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70A-4F57-8B24-EB420005C41F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0A-4F57-8B24-EB420005C41F}"/>
              </c:ext>
            </c:extLst>
          </c:dPt>
          <c:dPt>
            <c:idx val="2"/>
            <c:bubble3D val="0"/>
            <c:spPr>
              <a:solidFill>
                <a:srgbClr val="D85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0A-4F57-8B24-EB420005C41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0A-4F57-8B24-EB420005C41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0A-4F57-8B24-EB420005C41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0A-4F57-8B24-EB420005C41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28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0A-4F57-8B24-EB420005C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F2A3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2A3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%</c:v>
                </c:pt>
              </c:strCache>
            </c:strRef>
          </c:tx>
          <c:spPr>
            <a:solidFill>
              <a:srgbClr val="D850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30+ day lead time</c:v>
                </c:pt>
                <c:pt idx="1">
                  <c:v>Age 19-35</c:v>
                </c:pt>
                <c:pt idx="2">
                  <c:v>Monday</c:v>
                </c:pt>
                <c:pt idx="3">
                  <c:v>SMS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34.200000000000003</c:v>
                </c:pt>
                <c:pt idx="2">
                  <c:v>26</c:v>
                </c:pt>
                <c:pt idx="3">
                  <c:v>27.6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F-4F01-83F0-B148A5B485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9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MediFlow</c:v>
                </c:pt>
              </c:strCache>
            </c:strRef>
          </c:tx>
          <c:spPr>
            <a:solidFill>
              <a:srgbClr val="D850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No-show rate (%)</c:v>
                </c:pt>
                <c:pt idx="1">
                  <c:v>Slot fill rate (%)</c:v>
                </c:pt>
                <c:pt idx="2">
                  <c:v>Wait time (min)</c:v>
                </c:pt>
                <c:pt idx="3">
                  <c:v>Staff time (min)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12</c:v>
                </c:pt>
                <c:pt idx="2">
                  <c:v>45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77-4833-B570-BA1C3B9414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MediFlow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No-show rate (%)</c:v>
                </c:pt>
                <c:pt idx="1">
                  <c:v>Slot fill rate (%)</c:v>
                </c:pt>
                <c:pt idx="2">
                  <c:v>Wait time (min)</c:v>
                </c:pt>
                <c:pt idx="3">
                  <c:v>Staff time (min)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87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77-4833-B570-BA1C3B9414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9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865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MediFlow project: a business process improvement case study built on a real 71,959-record medical appointment dataset, redesigning the patient reminder and waitlist workflow at a fictional Sunrise Medical Clinic to cut no-shows.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 — five sections: problem, data, root causes, solution,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six-step manual process end to end, then land on the cost: 30% no-show rate, Rs 5,250/day lost, long waits, wasted staff time. Emphasize the root cause box: one-size-fits-all reminders plus no fast re-fill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headline KPIs, then the risk-tier donut (roughly low/medium/high split) and the risk-factor bar chart: long lead time, younger patients, Mondays, and SMS-only reminders all correlate with higher no-show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data-backed insights: generic SMS reminders barely move the needle; longer lead times raise no-show risk; and patients aged 19-35 are the highest-risk group. These three findings directly shape MediFlow's risk-tiered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flow: digital booking feeds an Excel-based risk score; patients are split into three tiers with matched reminder intensity; confirmed cancellations auto-broadcast to a waitlist so slots refill immediately instead of going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receptionist-facing console: staff log a patient (structured form or raw transcript), the risk-assessment module scores urgency, and a resource monitor tracks ED occupancy and staffing side by side with operational KPIs like revenue saved and high-risk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patient-facing portal lets patients submit symptoms and booking context themselves — including prior no-show history and estimated commute, which feed the risk score — while a built-in AI assistant answers common questions like clinic hours, doctors on staff, and what their triage category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comparison: no-show rate drops from 30% to 8%, slot fill rate rises from roughly 12% to 87%, patient wait time falls from 45 to 15 minutes, and staff time per no-show drops from 40 to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the four biggest wins: no-show rate cut from 30% to 8%, roughly Rs 9.8 lakh in annual revenue recovered, patient wait time down from 45 to 15 minutes, and about 580 staff hours saved per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four actionable recommendations: risk-score every booking, match reminder intensity to risk tier, automate waitlist broadcasting, and keep tracking metrics to refine the model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E6B7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MEDIFLOW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Mint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No-Show Losses with a Smarter Booking &amp; Reminder Workflow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02920" cy="45720"/>
          </a:xfrm>
          <a:prstGeom prst="roundRect">
            <a:avLst>
              <a:gd name="adj" fmla="val 40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Medical Clinic  ·  Business Process Improvement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2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Build-to-Learn 2026  ·  Department of Professional Management Studies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Ashutosh  ·  Roll No. 25BBAI18  ·  BBA (AI &amp; Data Science)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problem on the ground to a redesigned, data-driven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293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810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12080" y="18105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patients miss appointments and what it costs the clinic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437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212080" y="27249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71,959 real appointment records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5661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75818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94560" y="3639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12080" y="36393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insights driving no-shows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4805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68680" y="4572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67258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9456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212080" y="45537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MediFlow's risk-tiered booking &amp; reminder workflow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68680" y="5486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E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558698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94560" y="5468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212080" y="546811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after, projected savings &amp; recommendations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Broken Reminder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Medical Clinic's current, manual booking process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20928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72" y="170992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080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calls clinic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21128" y="19659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503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30856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500" y="17099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04008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register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331056" y="19659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503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40784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428" y="170992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3936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generic SMS reminder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040984" y="19659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503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150712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356" y="170992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23864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no-shows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750912" y="19659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503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860640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284" y="1709928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33792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calls paper waitlist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9460840" y="19659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503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9570568" y="1508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0D6C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1212" y="170992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43720" y="224028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available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1020928" y="3200400"/>
            <a:ext cx="10149840" cy="566928"/>
          </a:xfrm>
          <a:prstGeom prst="roundRect">
            <a:avLst>
              <a:gd name="adj" fmla="val 11290"/>
            </a:avLst>
          </a:prstGeom>
          <a:solidFill>
            <a:srgbClr val="FBEAE6"/>
          </a:solidFill>
          <a:ln/>
        </p:spPr>
      </p:sp>
      <p:sp>
        <p:nvSpPr>
          <p:cNvPr id="28" name="Text 20"/>
          <p:cNvSpPr/>
          <p:nvPr/>
        </p:nvSpPr>
        <p:spPr>
          <a:xfrm>
            <a:off x="1203808" y="32004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empty — ₹350 lost per no-show.  </a:t>
            </a:r>
            <a:r>
              <a:rPr lang="en-US" sz="1200" dirty="0">
                <a:solidFill>
                  <a:srgbClr val="8A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30% no-show rate  ·  ₹5,250 lost/day  ·  45 min patient wait  ·  40 min staff time wasted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1020928" y="3977640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0F2A3D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528" y="417880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798168" y="39776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issue: every patient gets the same generic message, regardless of how likely they are to miss the appointment — and when they no-show, there's no fast way to refill the slot.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71,959 real medical appointment records (Kaggle)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4864" cy="1042416"/>
          </a:xfrm>
          <a:prstGeom prst="roundRect">
            <a:avLst/>
          </a:prstGeom>
          <a:solidFill>
            <a:srgbClr val="0F2A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947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71,959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24963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673352"/>
            <a:ext cx="54864" cy="1042416"/>
          </a:xfrm>
          <a:prstGeom prst="roundRect">
            <a:avLst/>
          </a:prstGeom>
          <a:solidFill>
            <a:srgbClr val="D8503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947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8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49040" y="24963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20,522 missed appts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73552"/>
            <a:ext cx="54864" cy="1042416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/ 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547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₹4,200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" y="4096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₹350 per consult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47872" y="3273552"/>
            <a:ext cx="54864" cy="1042416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FILL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547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749040" y="4096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MediFlow waitlist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1508760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0F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Split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19842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grouped by no-show risk score</a:t>
            </a:r>
            <a:endParaRPr lang="en-US" sz="10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949440" y="2286000"/>
          <a:ext cx="43434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40080" y="44805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6868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Risk Factor (%)</a:t>
            </a:r>
            <a:endParaRPr lang="en-US" sz="1100" dirty="0"/>
          </a:p>
        </p:txBody>
      </p:sp>
      <p:graphicFrame>
        <p:nvGraphicFramePr>
          <p:cNvPr id="30" name="Chart 1"/>
          <p:cNvGraphicFramePr/>
          <p:nvPr/>
        </p:nvGraphicFramePr>
        <p:xfrm>
          <a:off x="777240" y="4864608"/>
          <a:ext cx="493776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Insights Behind the No-Shows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appointment data tells us about who misses, and why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E6B7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Alone Isn't Enough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with SMS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received a generic SMS reminder still missed appointments at 27.6%, barely below the 29.5% no-show rate for patients with no reminder at 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vs 21.4%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 vs same-day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bookings had a 21.4% no-show rate. Appointments booked 30+ days out jumped to 33% — the longer the wait, the easier it is to forget or deprioritize.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D850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Patients Are Riskiest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1248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ages 19-35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19-35 had the highest no-show rate of any group, making age one of the strongest predictors flagged automatically by MediFlow's risk model.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MediFlow's Risk-Tiered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is scored, then routed to the reminder intensity that fits their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417320"/>
            <a:ext cx="1673352" cy="978408"/>
          </a:xfrm>
          <a:prstGeom prst="roundRect">
            <a:avLst>
              <a:gd name="adj" fmla="val 7619"/>
            </a:avLst>
          </a:prstGeom>
          <a:solidFill>
            <a:srgbClr val="0F2A3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14" y="1659255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9368" y="1444371"/>
            <a:ext cx="94602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booking (Google Form)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140839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6B7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55164" y="1544955"/>
            <a:ext cx="960120" cy="827913"/>
          </a:xfrm>
          <a:prstGeom prst="roundRect">
            <a:avLst>
              <a:gd name="adj" fmla="val 7619"/>
            </a:avLst>
          </a:prstGeom>
          <a:solidFill>
            <a:srgbClr val="0F2A3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479" y="174345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7912" y="14173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assigned (Excel)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40680" y="1691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6B7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566160" y="1417320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EC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03320" y="155448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D8503A"/>
          </a:solidFill>
          <a:ln/>
        </p:spPr>
      </p:sp>
      <p:sp>
        <p:nvSpPr>
          <p:cNvPr id="14" name="Text 10"/>
          <p:cNvSpPr/>
          <p:nvPr/>
        </p:nvSpPr>
        <p:spPr>
          <a:xfrm>
            <a:off x="3703320" y="1554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7145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15087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double confirmation call + SMS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760720" y="18745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Highest-touch outreach for patients most likely to miss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566160" y="2542032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EC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703320" y="267919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20" name="Text 15"/>
          <p:cNvSpPr/>
          <p:nvPr/>
        </p:nvSpPr>
        <p:spPr>
          <a:xfrm>
            <a:off x="3703320" y="267919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8392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26334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reminder + confirmation request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760720" y="29992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follow-up, 1 reminder + confirm-back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566160" y="3666744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EC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03320" y="3803904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3703320" y="380390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96392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60720" y="37581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single reminder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760720" y="41239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Low-touch — most likely to attend as booked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0080" y="479145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6F7F3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99262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47914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cancellations trigger an automatic waitlist broadcast</a:t>
            </a:r>
            <a:r>
              <a:rPr lang="en-US" sz="1250" dirty="0">
                <a:solidFill>
                  <a:srgbClr val="21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next eligible patient accepts instantly and the slot is filled instead of sitting empty.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 Life: The MediFlow AI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scores patients and routes staff attention in real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7050024" cy="3530395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E4EAE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mediflow/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903720" cy="33840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472184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1399032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Ingestion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366760" y="1709928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 form or raw call-transcript capture at first contact.</a:t>
            </a:r>
            <a:endParaRPr lang="en-US" sz="10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48716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6760" y="2414016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366760" y="2724912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Auto-scores each case (e.g. severe chest pain vs. routine refill) to set urgency.</a:t>
            </a:r>
            <a:endParaRPr lang="en-US" sz="108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502152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6760" y="3429000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366760" y="3739896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 occupancy, available beds, and nurse duty status alongside the queue.</a:t>
            </a:r>
            <a:endParaRPr lang="en-US" sz="108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4517136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66760" y="4443984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366760" y="4754880"/>
            <a:ext cx="3184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logged, revenue saved, high-risk bottlenecks, and waitlist tracking at a glance.</a:t>
            </a:r>
            <a:endParaRPr lang="en-US" sz="1080" dirty="0"/>
          </a:p>
        </p:txBody>
      </p:sp>
      <p:sp>
        <p:nvSpPr>
          <p:cNvPr id="18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Side: Self-Service Booking + AI Assistant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triage themselves and get instant answers before they even arrive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82879" y="1344168"/>
            <a:ext cx="7225938" cy="4581144"/>
          </a:xfrm>
          <a:prstGeom prst="roundRect">
            <a:avLst>
              <a:gd name="adj" fmla="val 998"/>
            </a:avLst>
          </a:prstGeom>
          <a:solidFill>
            <a:srgbClr val="FFFFFF"/>
          </a:solidFill>
          <a:ln w="12700">
            <a:solidFill>
              <a:srgbClr val="E4EAEC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mediflow/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031" y="1417320"/>
            <a:ext cx="707963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After: MediFlow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change across four key operational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914400" y="1691640"/>
          <a:ext cx="103327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E6B7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MediFlow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results if implemented at Sunrise Medical Clinic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1639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0848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→ 8%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16394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124" y="208483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₹9.8L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52044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RECOVERED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16394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324" y="208483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→ 15 min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26364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WAIT TIME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869680" y="182880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16394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7524" y="208483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 hrs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900684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SAVED / YEAR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2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Rs 350 average consultation value and observed no-show patterns across 71,959 appointment records.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manual, reactive process into a proactive, data-driven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booking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423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no-show risk score at the point of booking using lead time, age group, and reminder history.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10512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556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effort to risk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423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urgent, high-touch confirmation calls for high-risk patients instead of treating everyone the same.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776472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86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21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waitlist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96112" y="4389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confirmed cancellations instantly so open slots are refilled in minutes, not left empty.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5204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776472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8862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721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iterate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389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no-show rate, fill rate, and staff time monthly to keep refining the risk model.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· Business Process Improvement · Sunrise Medical Clinic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1346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 — No-Show Analysis &amp; Business Process Improvement</dc:title>
  <dc:subject>PptxGenJS Presentation</dc:subject>
  <dc:creator>Ashutosh</dc:creator>
  <cp:lastModifiedBy>khalkhoshutosh@outlook.com</cp:lastModifiedBy>
  <cp:revision>2</cp:revision>
  <dcterms:created xsi:type="dcterms:W3CDTF">2026-07-03T06:52:50Z</dcterms:created>
  <dcterms:modified xsi:type="dcterms:W3CDTF">2026-07-03T06:59:11Z</dcterms:modified>
</cp:coreProperties>
</file>